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5" r:id="rId11"/>
    <p:sldId id="267" r:id="rId12"/>
  </p:sldIdLst>
  <p:sldSz cx="14630400" cy="8229600"/>
  <p:notesSz cx="8229600" cy="14630400"/>
  <p:embeddedFontLst>
    <p:embeddedFont>
      <p:font typeface="Geist" panose="020B0604020202020204" charset="-52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ury Gothic" panose="020B0502020202020204" pitchFamily="34" charset="0"/>
      <p:regular r:id="rId19"/>
      <p:bold r:id="rId20"/>
      <p:italic r:id="rId21"/>
      <p:boldItalic r:id="rId22"/>
    </p:embeddedFont>
    <p:embeddedFont>
      <p:font typeface="Wingdings 3" panose="05040102010807070707" pitchFamily="18" charset="2"/>
      <p:regular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316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2519679"/>
            <a:ext cx="10590790" cy="3213178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2190781" y="2150669"/>
            <a:ext cx="1188719" cy="3657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0742372" y="3873399"/>
            <a:ext cx="4631754" cy="3657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23049" y="354876"/>
            <a:ext cx="1005839" cy="92122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451692"/>
      </p:ext>
    </p:extLst>
  </p:cSld>
  <p:clrMapOvr>
    <a:masterClrMapping/>
  </p:clrMapOvr>
  <p:transition spd="med">
    <p:pull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945" y="3124200"/>
            <a:ext cx="10590791" cy="40995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507405"/>
      </p:ext>
    </p:extLst>
  </p:cSld>
  <p:clrMapOvr>
    <a:masterClrMapping/>
  </p:clrMapOvr>
  <p:transition spd="med">
    <p:pull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213174"/>
            <a:ext cx="5221230" cy="2740589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671" y="3213173"/>
            <a:ext cx="4509054" cy="2740589"/>
          </a:xfrm>
        </p:spPr>
        <p:txBody>
          <a:bodyPr anchor="ctr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48537"/>
      </p:ext>
    </p:extLst>
  </p:cSld>
  <p:clrMapOvr>
    <a:masterClrMapping/>
  </p:clrMapOvr>
  <p:transition spd="med">
    <p:pull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45" y="3124201"/>
            <a:ext cx="5790190" cy="409956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455" y="3124200"/>
            <a:ext cx="5790191" cy="40995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50336"/>
      </p:ext>
    </p:extLst>
  </p:cSld>
  <p:clrMapOvr>
    <a:masterClrMapping/>
  </p:clrMapOvr>
  <p:transition spd="med">
    <p:pull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3124200"/>
            <a:ext cx="579018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945" y="3815715"/>
            <a:ext cx="5790190" cy="340804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50455" y="3124200"/>
            <a:ext cx="579019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0455" y="3815715"/>
            <a:ext cx="5790191" cy="3408047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59153"/>
      </p:ext>
    </p:extLst>
  </p:cSld>
  <p:clrMapOvr>
    <a:masterClrMapping/>
  </p:clrMapOvr>
  <p:transition spd="med">
    <p:pull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897546"/>
      </p:ext>
    </p:extLst>
  </p:cSld>
  <p:clrMapOvr>
    <a:masterClrMapping/>
  </p:clrMapOvr>
  <p:transition spd="med">
    <p:pull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38327"/>
      </p:ext>
    </p:extLst>
  </p:cSld>
  <p:clrMapOvr>
    <a:masterClrMapping/>
  </p:clrMapOvr>
  <p:transition spd="med">
    <p:pull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1554480"/>
            <a:ext cx="3351790" cy="192024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5" y="1737360"/>
            <a:ext cx="6228079" cy="54864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3755137"/>
            <a:ext cx="3351790" cy="3474719"/>
          </a:xfrm>
        </p:spPr>
        <p:txBody>
          <a:bodyPr/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777036"/>
      </p:ext>
    </p:extLst>
  </p:cSld>
  <p:clrMapOvr>
    <a:masterClrMapping/>
  </p:clrMapOvr>
  <p:transition spd="med">
    <p:pull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2032000"/>
            <a:ext cx="4638161" cy="208280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7444" y="1371600"/>
            <a:ext cx="3872632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4389120"/>
            <a:ext cx="4631054" cy="1645920"/>
          </a:xfrm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503161"/>
      </p:ext>
    </p:extLst>
  </p:cSld>
  <p:clrMapOvr>
    <a:masterClrMapping/>
  </p:clrMapOvr>
  <p:transition spd="med">
    <p:pull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842219"/>
      </p:ext>
    </p:extLst>
  </p:cSld>
  <p:clrMapOvr>
    <a:masterClrMapping/>
  </p:clrMapOvr>
  <p:transition spd="med">
    <p:pull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558" y="1276101"/>
            <a:ext cx="10598179" cy="1647583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251960"/>
            <a:ext cx="10590791" cy="297180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579866"/>
      </p:ext>
    </p:extLst>
  </p:cSld>
  <p:clrMapOvr>
    <a:masterClrMapping/>
  </p:clrMapOvr>
  <p:transition spd="med">
    <p:pull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057879" y="728803"/>
            <a:ext cx="96229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1861350" y="3136545"/>
            <a:ext cx="78331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254" y="1178561"/>
            <a:ext cx="10144687" cy="3235958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335135" y="4414519"/>
            <a:ext cx="9277463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6035040"/>
            <a:ext cx="11093876" cy="1197428"/>
          </a:xfrm>
        </p:spPr>
        <p:txBody>
          <a:bodyPr anchor="ctr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384742"/>
      </p:ext>
    </p:extLst>
  </p:cSld>
  <p:clrMapOvr>
    <a:masterClrMapping/>
  </p:clrMapOvr>
  <p:transition spd="med">
    <p:pull/>
  </p:transition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2844800"/>
            <a:ext cx="10590792" cy="218701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6029960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689967"/>
      </p:ext>
    </p:extLst>
  </p:cSld>
  <p:clrMapOvr>
    <a:masterClrMapping/>
  </p:clrMapOvr>
  <p:transition spd="med">
    <p:pull/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3"/>
            <a:ext cx="377025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85944" y="3815717"/>
            <a:ext cx="3770255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266" y="3124200"/>
            <a:ext cx="377641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15266" y="3815716"/>
            <a:ext cx="3776411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65762" y="3124201"/>
            <a:ext cx="377487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65995" y="3815715"/>
            <a:ext cx="3774643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284765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26881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692093"/>
      </p:ext>
    </p:extLst>
  </p:cSld>
  <p:clrMapOvr>
    <a:masterClrMapping/>
  </p:clrMapOvr>
  <p:transition spd="med">
    <p:pull/>
  </p:transition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439413"/>
            <a:ext cx="366052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01464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85945" y="6130927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2638" y="5439413"/>
            <a:ext cx="3660526" cy="691516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698155" y="3124200"/>
            <a:ext cx="3229492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84206" y="6130926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79331" y="5439414"/>
            <a:ext cx="366131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95637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79330" y="6130925"/>
            <a:ext cx="3661315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86997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357362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333" y="7670206"/>
            <a:ext cx="4373138" cy="36576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826972"/>
      </p:ext>
    </p:extLst>
  </p:cSld>
  <p:clrMapOvr>
    <a:masterClrMapping/>
  </p:clrMapOvr>
  <p:transition spd="med">
    <p:pull/>
  </p:transition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3124200"/>
            <a:ext cx="10590791" cy="409956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34527" y="7670206"/>
            <a:ext cx="1188719" cy="36575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919490"/>
      </p:ext>
    </p:extLst>
  </p:cSld>
  <p:clrMapOvr>
    <a:masterClrMapping/>
  </p:clrMapOvr>
  <p:transition spd="med">
    <p:pull/>
  </p:transition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2283" y="1534160"/>
            <a:ext cx="1691958" cy="5698308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1534160"/>
            <a:ext cx="7507230" cy="569830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783725" y="7670206"/>
            <a:ext cx="1190562" cy="36575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173207"/>
      </p:ext>
    </p:extLst>
  </p:cSld>
  <p:clrMapOvr>
    <a:masterClrMapping/>
  </p:clrMapOvr>
  <p:transition spd="med">
    <p:pull/>
  </p:transition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177552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8664120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6861261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3570510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273890"/>
      </p:ext>
    </p:extLst>
  </p:cSld>
  <p:clrMapOvr>
    <a:masterClrMapping/>
  </p:clrMapOvr>
  <p:transition spd="med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299752"/>
      </p:ext>
    </p:extLst>
  </p:cSld>
  <p:clrMapOvr>
    <a:masterClrMapping/>
  </p:clrMapOvr>
  <p:transition spd="med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153681"/>
      </p:ext>
    </p:extLst>
  </p:cSld>
  <p:clrMapOvr>
    <a:masterClrMapping/>
  </p:clrMapOvr>
  <p:transition spd="med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695411"/>
      </p:ext>
    </p:extLst>
  </p:cSld>
  <p:clrMapOvr>
    <a:masterClrMapping/>
  </p:clrMapOvr>
  <p:transition spd="med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4790400"/>
      </p:ext>
    </p:extLst>
  </p:cSld>
  <p:clrMapOvr>
    <a:masterClrMapping/>
  </p:clrMapOvr>
  <p:transition spd="med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584693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385945" y="1168402"/>
            <a:ext cx="10513696" cy="848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0"/>
            <a:ext cx="10513696" cy="4099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3725" y="7670206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333" y="7670206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1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ransition spd="med">
    <p:pull/>
  </p:transition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4450" b="1" dirty="0" smtClean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«</a:t>
            </a:r>
            <a:r>
              <a:rPr lang="en-US" sz="4450" b="1" dirty="0" err="1" smtClean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Умный</a:t>
            </a:r>
            <a:r>
              <a:rPr lang="en-US" sz="4450" b="1" dirty="0" smtClean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</a:t>
            </a:r>
            <a:r>
              <a:rPr lang="en-US" sz="44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мост — защита </a:t>
            </a:r>
            <a:r>
              <a:rPr lang="en-US" sz="4450" b="1" dirty="0" err="1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от</a:t>
            </a:r>
            <a:r>
              <a:rPr lang="en-US" sz="4450" b="1" dirty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 </a:t>
            </a:r>
            <a:r>
              <a:rPr lang="en-US" sz="4450" b="1" dirty="0" err="1" smtClean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подтопления</a:t>
            </a:r>
            <a:r>
              <a:rPr lang="ru-RU" sz="4450" b="1" dirty="0" smtClean="0">
                <a:solidFill>
                  <a:srgbClr val="006747"/>
                </a:solidFill>
                <a:latin typeface="Times New Roman" panose="02020603050405020304" pitchFamily="18" charset="0"/>
                <a:ea typeface="Noto Serif SC Bold" pitchFamily="34" charset="-122"/>
                <a:cs typeface="Times New Roman" panose="02020603050405020304" pitchFamily="18" charset="0"/>
              </a:rPr>
              <a:t>»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958666"/>
            <a:ext cx="7795040" cy="3726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Направление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: транспортно‑логистические системы, морские, авиационные и беспилотные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технологии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ts val="2850"/>
              </a:lnSpc>
              <a:buNone/>
            </a:pP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ea typeface="Geist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</a:t>
            </a:r>
          </a:p>
          <a:p>
            <a:pPr marL="0" indent="0" algn="r">
              <a:lnSpc>
                <a:spcPts val="2850"/>
              </a:lnSpc>
              <a:buNone/>
            </a:pP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Автор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: </a:t>
            </a: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Джандаров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Ибрагим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Хамзатович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, </a:t>
            </a:r>
          </a:p>
          <a:p>
            <a:pPr marL="0" indent="0" algn="r">
              <a:lnSpc>
                <a:spcPts val="2850"/>
              </a:lnSpc>
              <a:buNone/>
            </a:pP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ученик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9 </a:t>
            </a:r>
            <a:r>
              <a:rPr lang="en-US" sz="2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класса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,</a:t>
            </a:r>
          </a:p>
          <a:p>
            <a:pPr marL="0" indent="0" algn="r">
              <a:lnSpc>
                <a:spcPts val="2850"/>
              </a:lnSpc>
              <a:buNone/>
            </a:pP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ГБОУ «СОШ №3 с.п. </a:t>
            </a:r>
            <a:r>
              <a:rPr lang="en-US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Долаково</a:t>
            </a:r>
            <a:r>
              <a:rPr 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.</a:t>
            </a:r>
            <a:endParaRPr lang="ru-RU" sz="2800" b="1" dirty="0" smtClean="0">
              <a:solidFill>
                <a:srgbClr val="00B050"/>
              </a:solidFill>
              <a:latin typeface="Times New Roman" panose="02020603050405020304" pitchFamily="18" charset="0"/>
              <a:ea typeface="Geist" pitchFamily="34" charset="-122"/>
              <a:cs typeface="Times New Roman" panose="02020603050405020304" pitchFamily="18" charset="0"/>
            </a:endParaRPr>
          </a:p>
          <a:p>
            <a:pPr marL="0" indent="0" algn="r">
              <a:lnSpc>
                <a:spcPts val="2850"/>
              </a:lnSpc>
              <a:buNone/>
            </a:pPr>
            <a:r>
              <a:rPr lang="ru-RU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Научный руководитель: Аушев </a:t>
            </a:r>
            <a:r>
              <a:rPr lang="ru-RU" sz="2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Апти</a:t>
            </a:r>
            <a:r>
              <a:rPr lang="ru-RU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Ахметович</a:t>
            </a:r>
          </a:p>
          <a:p>
            <a:pPr marL="0" indent="0" algn="r">
              <a:lnSpc>
                <a:spcPts val="2850"/>
              </a:lnSpc>
              <a:buNone/>
            </a:pPr>
            <a:endParaRPr lang="en-US" sz="2800" dirty="0" smtClean="0">
              <a:solidFill>
                <a:srgbClr val="00B050"/>
              </a:solidFill>
              <a:latin typeface="Times New Roman" panose="02020603050405020304" pitchFamily="18" charset="0"/>
              <a:ea typeface="Geist" pitchFamily="34" charset="-122"/>
              <a:cs typeface="Times New Roman" panose="02020603050405020304" pitchFamily="18" charset="0"/>
            </a:endParaRPr>
          </a:p>
          <a:p>
            <a:pPr marL="0" indent="0" algn="r">
              <a:lnSpc>
                <a:spcPts val="2850"/>
              </a:lnSpc>
              <a:buNone/>
            </a:pPr>
            <a:r>
              <a:rPr lang="en-US" sz="2800" dirty="0" smtClean="0">
                <a:solidFill>
                  <a:srgbClr val="4B4A4A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74062" y="836635"/>
            <a:ext cx="142002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Республиканский научно-практическая конференция</a:t>
            </a:r>
          </a:p>
          <a:p>
            <a:pPr algn="ctr"/>
            <a:r>
              <a:rPr lang="ru-RU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программированию «Сунжа Tech 2026»</a:t>
            </a:r>
          </a:p>
          <a:p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0872" y="3478793"/>
            <a:ext cx="5410200" cy="42065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83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Идея проекта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12253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Система автономного мониторинга уровня воды с автоматической активацией защитных механизмов: подъём барьеров, светозвуковая сигнализация, запуск насоса и удалённый контроль через веб‑интерфейс.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829294"/>
            <a:ext cx="7556421" cy="1326713"/>
          </a:xfrm>
          <a:prstGeom prst="roundRect">
            <a:avLst>
              <a:gd name="adj" fmla="val 15387"/>
            </a:avLst>
          </a:prstGeom>
          <a:solidFill>
            <a:srgbClr val="B3FFE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173385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5112782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Цель: обеспечить круглосуточный мониторинг и мгновенную защиту мостов от подтопления.</a:t>
            </a:r>
            <a:endParaRPr lang="en-US" sz="175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670971" y="7707086"/>
            <a:ext cx="1883229" cy="43542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69" y="2570047"/>
            <a:ext cx="4205168" cy="5606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0795" y="1311354"/>
            <a:ext cx="541317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Архитектура системы</a:t>
            </a:r>
            <a:endParaRPr lang="en-US" sz="35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5559981" y="3536513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Гибридная схема: КПМИС — ответственный контроллер автоматики (датчики, сервоприводы, насос, сигнализация); ESP‑32 — веб‑сервер и коммуникационный мост (Wi‑Fi/Bluetooth), обмен по UART.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559981" y="4829294"/>
            <a:ext cx="828413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Автономность: солнечная БЭП + аккумулятор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Резервирование: КПМИС продолжает работу при потере связи</a:t>
            </a:r>
            <a:endParaRPr lang="en-US" sz="17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670971" y="7707086"/>
            <a:ext cx="1883229" cy="43542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80797" y="121622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Удалённый мониторинг и управление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248144"/>
            <a:ext cx="2367558" cy="3491032"/>
          </a:xfrm>
          <a:prstGeom prst="roundRect">
            <a:avLst>
              <a:gd name="adj" fmla="val 862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82578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Отображение статуса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327327"/>
            <a:ext cx="18986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Уровень воды, статус барьеров, режим (авто/ручной), состояние насоса.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874562" y="3248144"/>
            <a:ext cx="2367558" cy="3491032"/>
          </a:xfrm>
          <a:prstGeom prst="roundRect">
            <a:avLst>
              <a:gd name="adj" fmla="val 862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08996" y="3482578"/>
            <a:ext cx="18986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История событий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08996" y="4327327"/>
            <a:ext cx="1898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Лог срабатываний с датой/временем.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468933" y="3248144"/>
            <a:ext cx="2367558" cy="3491032"/>
          </a:xfrm>
          <a:prstGeom prst="roundRect">
            <a:avLst>
              <a:gd name="adj" fmla="val 8623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3368" y="3482578"/>
            <a:ext cx="189869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Дистанционные команды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3368" y="4681657"/>
            <a:ext cx="18986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Поднять/опустить барьеры, включить насос, запустить дрон.</a:t>
            </a:r>
            <a:endParaRPr lang="en-US" sz="17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670971" y="7707086"/>
            <a:ext cx="1883229" cy="43542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85545" y="588579"/>
            <a:ext cx="9511861" cy="17552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/>
              <a:t>	</a:t>
            </a:r>
            <a:r>
              <a:rPr lang="ru-RU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Веб-интерфейс для удаленного мониторинга и управления </a:t>
            </a:r>
          </a:p>
        </p:txBody>
      </p:sp>
      <p:pic>
        <p:nvPicPr>
          <p:cNvPr id="3" name="Рисунок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32" y="3080950"/>
            <a:ext cx="5182836" cy="3884294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987" y="3172178"/>
            <a:ext cx="5940425" cy="379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61049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630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Интеграция дрона‑инспектора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ESP‑32 запускает дрон автоматически или по команде для визуальной оценки опор, наличия заторов, состояния проезжей части; это снижает риск для людей и ускоряет принятие решений.</a:t>
            </a:r>
            <a:endParaRPr lang="en-US" sz="175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09551" y="1095144"/>
            <a:ext cx="66846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Функционал системы</a:t>
            </a:r>
            <a:endParaRPr lang="en-US" sz="445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362087"/>
            <a:ext cx="914876" cy="1143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2154" y="3362087"/>
            <a:ext cx="296025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Мониторинг уровня воды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92154" y="4206835"/>
            <a:ext cx="296025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Круглосуточное считывание, фильтрация ложных срабатываний, пороговая аналитика.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362087"/>
            <a:ext cx="914876" cy="1143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4257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Активная защита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34257" y="3852505"/>
            <a:ext cx="296025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Плавный подъём барьеров сервоприводами, светозвуковая и логическая блокировка проезда.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362087"/>
            <a:ext cx="914876" cy="11435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76359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Откачка воды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876359" y="3852505"/>
            <a:ext cx="296025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Автоматический или ручной запуск погружного насоса для снижения уровня под мостом.</a:t>
            </a:r>
            <a:endParaRPr lang="en-US" sz="175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2670971" y="7707086"/>
            <a:ext cx="1883229" cy="43542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53376" y="103290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Энергетическая автономность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83976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Питание от солнечной панели с контроллером заряда и аккумулятором; низкое энергопотребление микроконтроллеров и резервная работа в условиях отсутствия сети.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83624"/>
            <a:ext cx="7556421" cy="963811"/>
          </a:xfrm>
          <a:prstGeom prst="roundRect">
            <a:avLst>
              <a:gd name="adj" fmla="val 21181"/>
            </a:avLst>
          </a:prstGeom>
          <a:solidFill>
            <a:srgbClr val="B3FFE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527715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17306" y="5467112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Ключ для удалённых объектов и малых мостов.</a:t>
            </a:r>
            <a:endParaRPr lang="en-US" sz="175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670971" y="7707086"/>
            <a:ext cx="1883229" cy="43542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0976" y="1002523"/>
            <a:ext cx="72085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Сравнительный анализ</a:t>
            </a:r>
            <a:endParaRPr lang="en-US" sz="445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881074"/>
            <a:ext cx="13042821" cy="3629739"/>
          </a:xfrm>
          <a:prstGeom prst="roundRect">
            <a:avLst>
              <a:gd name="adj" fmla="val 56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88869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303240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Существующие решения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3161" y="3032403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Ограничения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353901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68272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Пассивные методы (габионы)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3161" y="3682722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Не дают обратной связи; требуют строительства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18933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433304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Системы мониторинга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243161" y="4333042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Информируют, но не реагируют автоматически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83965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983361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Дроны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243161" y="4983361"/>
            <a:ext cx="7359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Диагностика, но не защита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5489972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633680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Наш проект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243161" y="5633680"/>
            <a:ext cx="7359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Автоматическая защита, веб‑управление, интеграция с дроном, автономность, низкая стоимость</a:t>
            </a:r>
            <a:endParaRPr lang="en-US" sz="175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2670971" y="7707086"/>
            <a:ext cx="1883229" cy="43542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527" y="903385"/>
            <a:ext cx="7570946" cy="140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Результаты и перспективы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4" name="Shape 1"/>
          <p:cNvSpPr/>
          <p:nvPr/>
        </p:nvSpPr>
        <p:spPr>
          <a:xfrm>
            <a:off x="786527" y="2754511"/>
            <a:ext cx="7570946" cy="2023110"/>
          </a:xfrm>
          <a:prstGeom prst="roundRect">
            <a:avLst>
              <a:gd name="adj" fmla="val 999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8818" y="2598658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Итоги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18818" y="3083481"/>
            <a:ext cx="7106364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Разработана рабочая гибридная архитектура КПМИС + ESP‑32, реализован прототип с 100% срабатыванием датчика, корректной работой сервоприводов и веб‑управлением.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86527" y="4883669"/>
            <a:ext cx="7570946" cy="2023110"/>
          </a:xfrm>
          <a:prstGeom prst="roundRect">
            <a:avLst>
              <a:gd name="adj" fmla="val 999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8818" y="4844415"/>
            <a:ext cx="3362563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Дальнейшее развитие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18818" y="5329238"/>
            <a:ext cx="7106364" cy="10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Машинное зрение на дроне, интеграция в V2X и ситуативные центры, LoRa‑связь, мобильное приложение и коммерциализация.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86527" y="6885742"/>
            <a:ext cx="7570946" cy="715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Проект повышает безопасность инфраструктуры, снижает экономические потери и риск для людей при паводках.</a:t>
            </a:r>
            <a:endParaRPr lang="en-US" sz="175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6411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</TotalTime>
  <Words>401</Words>
  <Application>Microsoft Office PowerPoint</Application>
  <PresentationFormat>Произвольный</PresentationFormat>
  <Paragraphs>65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Noto Serif SC Bold</vt:lpstr>
      <vt:lpstr>Arial</vt:lpstr>
      <vt:lpstr>Geist</vt:lpstr>
      <vt:lpstr>Times New Roman</vt:lpstr>
      <vt:lpstr>Calibri</vt:lpstr>
      <vt:lpstr>Century Gothic</vt:lpstr>
      <vt:lpstr>Wingdings 3</vt:lpstr>
      <vt:lpstr>Совет директоров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acer</dc:creator>
  <cp:lastModifiedBy>Apti</cp:lastModifiedBy>
  <cp:revision>5</cp:revision>
  <dcterms:created xsi:type="dcterms:W3CDTF">2026-02-19T18:53:06Z</dcterms:created>
  <dcterms:modified xsi:type="dcterms:W3CDTF">2026-05-09T18:48:58Z</dcterms:modified>
</cp:coreProperties>
</file>